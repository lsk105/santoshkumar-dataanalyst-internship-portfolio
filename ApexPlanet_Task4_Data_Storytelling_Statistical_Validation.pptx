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515600" cy="3200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r>
              <a:rPr sz="1300" b="1">
                <a:solidFill>
                  <a:srgbClr val="87DCD3"/>
                </a:solidFill>
                <a:latin typeface="Aptos"/>
              </a:rPr>
              <a:t>APEXPLANET  |  DATA ANALYTICS INTERNSHIP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424160" cy="160020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Aptos"/>
              </a:rPr>
              <a:t>From Sales Data
to Business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3429000"/>
            <a:ext cx="10332720" cy="50292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r>
              <a:rPr sz="2000" b="0">
                <a:solidFill>
                  <a:srgbClr val="FFFFFF"/>
                </a:solidFill>
                <a:latin typeface="Aptos"/>
              </a:rPr>
              <a:t>Task 4 — Data Storytelling &amp; Statistical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4069080"/>
            <a:ext cx="10332720" cy="36576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r>
              <a:rPr sz="1500" b="0">
                <a:solidFill>
                  <a:srgbClr val="CDD8E8"/>
                </a:solidFill>
                <a:latin typeface="Aptos"/>
              </a:rPr>
              <a:t>Sales performance • customer segments • hypothesis testing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5989320"/>
            <a:ext cx="10515600" cy="3200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r>
              <a:rPr sz="1200" b="0">
                <a:solidFill>
                  <a:srgbClr val="CDD8E8"/>
                </a:solidFill>
                <a:latin typeface="Aptos"/>
              </a:rPr>
              <a:t>Dataset: 1,000 transaction records | Analysis period: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r>
              <a:rPr sz="2800" b="1">
                <a:solidFill>
                  <a:srgbClr val="18274B"/>
                </a:solidFill>
                <a:latin typeface="Aptos"/>
              </a:rPr>
              <a:t>1. The business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972800" cy="3200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Aptos"/>
              </a:rPr>
              <a:t>A concise story for decision-makers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789920" cy="59436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r>
              <a:rPr sz="2500" b="1">
                <a:solidFill>
                  <a:srgbClr val="18274B"/>
                </a:solidFill>
                <a:latin typeface="Aptos"/>
              </a:rPr>
              <a:t>How can sales data help the business focus its attention?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10058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D3748"/>
                </a:solidFill>
                <a:latin typeface="Aptos"/>
              </a:defRPr>
            </a:pPr>
            <a:r>
              <a:t>•  Measure overall sales and units sold.</a:t>
            </a:r>
          </a:p>
          <a:p>
            <a:pPr>
              <a:spcAft>
                <a:spcPts val="1200"/>
              </a:spcAft>
              <a:defRPr sz="1900">
                <a:solidFill>
                  <a:srgbClr val="2D3748"/>
                </a:solidFill>
                <a:latin typeface="Aptos"/>
              </a:defRPr>
            </a:pPr>
            <a:r>
              <a:t>•  Compare product categories, cities, months, and customer segments.</a:t>
            </a:r>
          </a:p>
          <a:p>
            <a:pPr>
              <a:spcAft>
                <a:spcPts val="1200"/>
              </a:spcAft>
              <a:defRPr sz="1900">
                <a:solidFill>
                  <a:srgbClr val="2D3748"/>
                </a:solidFill>
                <a:latin typeface="Aptos"/>
              </a:defRPr>
            </a:pPr>
            <a:r>
              <a:t>•  Test one customer-level question statistically instead of relying only on chart differences.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806440"/>
            <a:ext cx="10698480" cy="41148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r>
              <a:rPr sz="1300" b="1">
                <a:solidFill>
                  <a:srgbClr val="B94646"/>
                </a:solidFill>
                <a:latin typeface="Aptos"/>
              </a:rPr>
              <a:t>Scope note: this dataset contains sales transactions, not website A/B-test or conversion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r>
              <a:rPr sz="2800" b="1">
                <a:solidFill>
                  <a:srgbClr val="18274B"/>
                </a:solidFill>
                <a:latin typeface="Aptos"/>
              </a:rPr>
              <a:t>2. What the data says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972800" cy="3200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Aptos"/>
              </a:rPr>
              <a:t>Cleaned sales dataset and headline measures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26060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82296" cy="1508760"/>
          </a:xfrm>
          <a:prstGeom prst="rect">
            <a:avLst/>
          </a:prstGeom>
          <a:solidFill>
            <a:srgbClr val="1B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27048"/>
            <a:ext cx="2331720" cy="27432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r>
              <a:rPr sz="1100" b="1">
                <a:solidFill>
                  <a:srgbClr val="64748B"/>
                </a:solidFill>
                <a:latin typeface="Aptos"/>
              </a:rPr>
              <a:t>TOTAL SALES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56232"/>
            <a:ext cx="2331720" cy="438912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r>
              <a:rPr sz="2200" b="1">
                <a:solidFill>
                  <a:srgbClr val="18274B"/>
                </a:solidFill>
                <a:latin typeface="Aptos"/>
              </a:rPr>
              <a:t>₹139.40M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33472"/>
            <a:ext cx="2331720" cy="201168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Aptos"/>
              </a:rPr>
              <a:t>Sum of Total_Sales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1417320"/>
            <a:ext cx="26060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66160" y="1417320"/>
            <a:ext cx="82296" cy="1508760"/>
          </a:xfrm>
          <a:prstGeom prst="rect">
            <a:avLst/>
          </a:prstGeom>
          <a:solidFill>
            <a:srgbClr val="366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39" y="1527048"/>
            <a:ext cx="2331720" cy="27432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r>
              <a:rPr sz="1100" b="1">
                <a:solidFill>
                  <a:srgbClr val="64748B"/>
                </a:solidFill>
                <a:latin typeface="Aptos"/>
              </a:rPr>
              <a:t>TRANSACTION RECORDS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1856232"/>
            <a:ext cx="2331720" cy="438912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r>
              <a:rPr sz="2200" b="1">
                <a:solidFill>
                  <a:srgbClr val="18274B"/>
                </a:solidFill>
                <a:latin typeface="Aptos"/>
              </a:rPr>
              <a:t>1,000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2633472"/>
            <a:ext cx="2331720" cy="201168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Aptos"/>
              </a:rPr>
              <a:t>Rows in dataset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417320"/>
            <a:ext cx="23317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1417320"/>
            <a:ext cx="82296" cy="150876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1527048"/>
            <a:ext cx="2057400" cy="27432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r>
              <a:rPr sz="1100" b="1">
                <a:solidFill>
                  <a:srgbClr val="64748B"/>
                </a:solidFill>
                <a:latin typeface="Aptos"/>
              </a:rPr>
              <a:t>UNITS SOLD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1856232"/>
            <a:ext cx="2057400" cy="438912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r>
              <a:rPr sz="2200" b="1">
                <a:solidFill>
                  <a:srgbClr val="18274B"/>
                </a:solidFill>
                <a:latin typeface="Aptos"/>
              </a:rPr>
              <a:t>5,435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633472"/>
            <a:ext cx="2057400" cy="201168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Aptos"/>
              </a:rPr>
              <a:t>Sum of Quantity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61120" y="1417320"/>
            <a:ext cx="24688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61120" y="1417320"/>
            <a:ext cx="82296" cy="1508760"/>
          </a:xfrm>
          <a:prstGeom prst="rect">
            <a:avLst/>
          </a:prstGeom>
          <a:solidFill>
            <a:srgbClr val="1B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1527048"/>
            <a:ext cx="2194560" cy="27432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r>
              <a:rPr sz="1100" b="1">
                <a:solidFill>
                  <a:srgbClr val="64748B"/>
                </a:solidFill>
                <a:latin typeface="Aptos"/>
              </a:rPr>
              <a:t>AVG. SALES / RECORD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856232"/>
            <a:ext cx="2194560" cy="438912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r>
              <a:rPr sz="2200" b="1">
                <a:solidFill>
                  <a:srgbClr val="18274B"/>
                </a:solidFill>
                <a:latin typeface="Aptos"/>
              </a:rPr>
              <a:t>₹139.4K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633472"/>
            <a:ext cx="2194560" cy="201168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Aptos"/>
              </a:rPr>
              <a:t>Sales ÷ records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342900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D3748"/>
                </a:solidFill>
                <a:latin typeface="Aptos"/>
              </a:defRPr>
            </a:pPr>
            <a:r>
              <a:t>•  Data quality checks were performed during preparation.</a:t>
            </a:r>
          </a:p>
          <a:p>
            <a:pPr>
              <a:spcAft>
                <a:spcPts val="1200"/>
              </a:spcAft>
              <a:defRPr sz="1700">
                <a:solidFill>
                  <a:srgbClr val="2D3748"/>
                </a:solidFill>
                <a:latin typeface="Aptos"/>
              </a:defRPr>
            </a:pPr>
            <a:r>
              <a:t>•  Electronics had 354 category records—the largest category by record count, not necessarily by revenue.</a:t>
            </a:r>
          </a:p>
          <a:p>
            <a:pPr>
              <a:spcAft>
                <a:spcPts val="1200"/>
              </a:spcAft>
              <a:defRPr sz="1700">
                <a:solidFill>
                  <a:srgbClr val="2D3748"/>
                </a:solidFill>
                <a:latin typeface="Aptos"/>
              </a:defRPr>
            </a:pPr>
            <a:r>
              <a:t>•  The Power BI dashboard enables interactive exploration using charts and slicers.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r>
              <a:rPr sz="2800" b="1">
                <a:solidFill>
                  <a:srgbClr val="18274B"/>
                </a:solidFill>
                <a:latin typeface="Aptos"/>
              </a:rPr>
              <a:t>3. Turn analysis into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972800" cy="3200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Aptos"/>
              </a:rPr>
              <a:t>The business narrative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71600"/>
            <a:ext cx="1042416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371600"/>
            <a:ext cx="82296" cy="804672"/>
          </a:xfrm>
          <a:prstGeom prst="rect">
            <a:avLst/>
          </a:prstGeom>
          <a:solidFill>
            <a:srgbClr val="366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481328"/>
            <a:ext cx="10149840" cy="27432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r>
              <a:rPr sz="1100" b="1">
                <a:solidFill>
                  <a:srgbClr val="64748B"/>
                </a:solidFill>
                <a:latin typeface="Aptos"/>
              </a:rPr>
              <a:t>OBJECTIVE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810512"/>
            <a:ext cx="10149840" cy="438912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r>
              <a:rPr sz="2200" b="1">
                <a:solidFill>
                  <a:srgbClr val="18274B"/>
                </a:solidFill>
                <a:latin typeface="Aptos"/>
              </a:rPr>
              <a:t>Understand sales and customer patterns.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450591"/>
            <a:ext cx="1042416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450591"/>
            <a:ext cx="82296" cy="804672"/>
          </a:xfrm>
          <a:prstGeom prst="rect">
            <a:avLst/>
          </a:prstGeom>
          <a:solidFill>
            <a:srgbClr val="1B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560320"/>
            <a:ext cx="10149840" cy="27432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r>
              <a:rPr sz="1100" b="1">
                <a:solidFill>
                  <a:srgbClr val="64748B"/>
                </a:solidFill>
                <a:latin typeface="Aptos"/>
              </a:rPr>
              <a:t>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889503"/>
            <a:ext cx="10149840" cy="438912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r>
              <a:rPr sz="2200" b="1">
                <a:solidFill>
                  <a:srgbClr val="18274B"/>
                </a:solidFill>
                <a:latin typeface="Aptos"/>
              </a:rPr>
              <a:t>Compare sales across categories, dates, cities, and customer groups.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529584"/>
            <a:ext cx="1042416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3529584"/>
            <a:ext cx="82296" cy="804672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639312"/>
            <a:ext cx="10149840" cy="27432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r>
              <a:rPr sz="1100" b="1">
                <a:solidFill>
                  <a:srgbClr val="64748B"/>
                </a:solidFill>
                <a:latin typeface="Aptos"/>
              </a:rPr>
              <a:t>INTERPRETATION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968496"/>
            <a:ext cx="10149840" cy="438912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r>
              <a:rPr sz="2200" b="1">
                <a:solidFill>
                  <a:srgbClr val="18274B"/>
                </a:solidFill>
                <a:latin typeface="Aptos"/>
              </a:rPr>
              <a:t>Use dashboard detail to identify promising and weaker segments.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608576"/>
            <a:ext cx="1042416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4608576"/>
            <a:ext cx="82296" cy="804672"/>
          </a:xfrm>
          <a:prstGeom prst="rect">
            <a:avLst/>
          </a:prstGeom>
          <a:solidFill>
            <a:srgbClr val="182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718304"/>
            <a:ext cx="10149840" cy="27432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r>
              <a:rPr sz="1100" b="1">
                <a:solidFill>
                  <a:srgbClr val="64748B"/>
                </a:solidFill>
                <a:latin typeface="Aptos"/>
              </a:rPr>
              <a:t>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047488"/>
            <a:ext cx="10149840" cy="438912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r>
              <a:rPr sz="2200" b="1">
                <a:solidFill>
                  <a:srgbClr val="18274B"/>
                </a:solidFill>
                <a:latin typeface="Aptos"/>
              </a:rPr>
              <a:t>Prioritize evidence-backed marketing, inventory, and performance reviews.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897880"/>
            <a:ext cx="10607040" cy="41148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r>
              <a:rPr sz="1200" b="1">
                <a:solidFill>
                  <a:srgbClr val="64748B"/>
                </a:solidFill>
                <a:latin typeface="Aptos"/>
              </a:rPr>
              <a:t>Before presenting, add exact top-category, top-month, and age-group results from your dashboard.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r>
              <a:rPr sz="2800" b="1">
                <a:solidFill>
                  <a:srgbClr val="18274B"/>
                </a:solidFill>
                <a:latin typeface="Aptos"/>
              </a:rPr>
              <a:t>4. Hypothesis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972800" cy="3200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Aptos"/>
              </a:rPr>
              <a:t>Do average transaction sales differ by customer gender?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424160" cy="50292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r>
              <a:rPr sz="1800" b="1">
                <a:solidFill>
                  <a:srgbClr val="18274B"/>
                </a:solidFill>
                <a:latin typeface="Aptos"/>
              </a:rPr>
              <a:t>H₀ (null): Male and female transaction records have equal mean sales.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10424160" cy="50292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r>
              <a:rPr sz="1800" b="1">
                <a:solidFill>
                  <a:srgbClr val="18274B"/>
                </a:solidFill>
                <a:latin typeface="Aptos"/>
              </a:rPr>
              <a:t>H₁ (alternative): Their mean transaction sales are different.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80360"/>
            <a:ext cx="102412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D3748"/>
                </a:solidFill>
                <a:latin typeface="Aptos"/>
              </a:defRPr>
            </a:pPr>
            <a:r>
              <a:t>•  Test: Welch’s independent-samples t-test (does not assume equal variances).</a:t>
            </a:r>
          </a:p>
          <a:p>
            <a:pPr>
              <a:spcAft>
                <a:spcPts val="1200"/>
              </a:spcAft>
              <a:defRPr sz="1700">
                <a:solidFill>
                  <a:srgbClr val="2D3748"/>
                </a:solidFill>
                <a:latin typeface="Aptos"/>
              </a:defRPr>
            </a:pPr>
            <a:r>
              <a:t>•  Significance level: α = 0.05; two-sided test.</a:t>
            </a:r>
          </a:p>
          <a:p>
            <a:pPr>
              <a:spcAft>
                <a:spcPts val="1200"/>
              </a:spcAft>
              <a:defRPr sz="1700">
                <a:solidFill>
                  <a:srgbClr val="2D3748"/>
                </a:solidFill>
                <a:latin typeface="Aptos"/>
              </a:defRPr>
            </a:pPr>
            <a:r>
              <a:t>•  Outcome measure: Total_Sales for each transaction record.</a:t>
            </a:r>
          </a:p>
          <a:p>
            <a:pPr>
              <a:spcAft>
                <a:spcPts val="1200"/>
              </a:spcAft>
              <a:defRPr sz="1700">
                <a:solidFill>
                  <a:srgbClr val="2D3748"/>
                </a:solidFill>
                <a:latin typeface="Aptos"/>
              </a:defRPr>
            </a:pPr>
            <a:r>
              <a:t>•  This is an observational comparison—not proof that gender causes a sales difference.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r>
              <a:rPr sz="2800" b="1">
                <a:solidFill>
                  <a:srgbClr val="18274B"/>
                </a:solidFill>
                <a:latin typeface="Aptos"/>
              </a:rPr>
              <a:t>5. Statistical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972800" cy="3200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Aptos"/>
              </a:rPr>
              <a:t>Welch’s t-test on 1,000 transaction records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27432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82296" cy="1417320"/>
          </a:xfrm>
          <a:prstGeom prst="rect">
            <a:avLst/>
          </a:prstGeom>
          <a:solidFill>
            <a:srgbClr val="366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27048"/>
            <a:ext cx="2468880" cy="27432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r>
              <a:rPr sz="1100" b="1">
                <a:solidFill>
                  <a:srgbClr val="64748B"/>
                </a:solidFill>
                <a:latin typeface="Aptos"/>
              </a:rPr>
              <a:t>MALE MEAN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56232"/>
            <a:ext cx="2468880" cy="438912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r>
              <a:rPr sz="2200" b="1">
                <a:solidFill>
                  <a:srgbClr val="18274B"/>
                </a:solidFill>
                <a:latin typeface="Aptos"/>
              </a:rPr>
              <a:t>₹141,807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42032"/>
            <a:ext cx="2468880" cy="201168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Aptos"/>
              </a:rPr>
              <a:t>n = 511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1417320"/>
            <a:ext cx="27432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0" y="1417320"/>
            <a:ext cx="82296" cy="1417320"/>
          </a:xfrm>
          <a:prstGeom prst="rect">
            <a:avLst/>
          </a:prstGeom>
          <a:solidFill>
            <a:srgbClr val="1B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0" y="1527048"/>
            <a:ext cx="2468880" cy="27432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r>
              <a:rPr sz="1100" b="1">
                <a:solidFill>
                  <a:srgbClr val="64748B"/>
                </a:solidFill>
                <a:latin typeface="Aptos"/>
              </a:rPr>
              <a:t>FEMALE MEAN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1856232"/>
            <a:ext cx="2468880" cy="438912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r>
              <a:rPr sz="2200" b="1">
                <a:solidFill>
                  <a:srgbClr val="18274B"/>
                </a:solidFill>
                <a:latin typeface="Aptos"/>
              </a:rPr>
              <a:t>₹136,883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542032"/>
            <a:ext cx="2468880" cy="201168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Aptos"/>
              </a:rPr>
              <a:t>n = 489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1417320"/>
            <a:ext cx="2286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0" y="1417320"/>
            <a:ext cx="82296" cy="141732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1527048"/>
            <a:ext cx="2011680" cy="27432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r>
              <a:rPr sz="1100" b="1">
                <a:solidFill>
                  <a:srgbClr val="64748B"/>
                </a:solidFill>
                <a:latin typeface="Aptos"/>
              </a:rPr>
              <a:t>MEAN DIFFERENCE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1856232"/>
            <a:ext cx="2011680" cy="438912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r>
              <a:rPr sz="2200" b="1">
                <a:solidFill>
                  <a:srgbClr val="18274B"/>
                </a:solidFill>
                <a:latin typeface="Aptos"/>
              </a:rPr>
              <a:t>₹4,924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2542032"/>
            <a:ext cx="2011680" cy="201168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Aptos"/>
              </a:rPr>
              <a:t>Male − female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1417320"/>
            <a:ext cx="2377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1417320"/>
            <a:ext cx="82296" cy="1417320"/>
          </a:xfrm>
          <a:prstGeom prst="rect">
            <a:avLst/>
          </a:prstGeom>
          <a:solidFill>
            <a:srgbClr val="B9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0" y="1527048"/>
            <a:ext cx="2103120" cy="27432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r>
              <a:rPr sz="1100" b="1">
                <a:solidFill>
                  <a:srgbClr val="64748B"/>
                </a:solidFill>
                <a:latin typeface="Aptos"/>
              </a:rPr>
              <a:t>P-VALUE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1856232"/>
            <a:ext cx="2103120" cy="438912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r>
              <a:rPr sz="2200" b="1">
                <a:solidFill>
                  <a:srgbClr val="18274B"/>
                </a:solidFill>
                <a:latin typeface="Aptos"/>
              </a:rPr>
              <a:t>0.495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2542032"/>
            <a:ext cx="2103120" cy="201168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Aptos"/>
              </a:rPr>
              <a:t>α = 0.05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3337560"/>
            <a:ext cx="10424160" cy="36576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r>
              <a:rPr sz="1600" b="1">
                <a:solidFill>
                  <a:srgbClr val="18274B"/>
                </a:solidFill>
                <a:latin typeface="Aptos"/>
              </a:rPr>
              <a:t>95% confidence interval for mean difference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3794760"/>
            <a:ext cx="10424160" cy="59436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r>
              <a:rPr sz="2700" b="1">
                <a:solidFill>
                  <a:srgbClr val="3660AD"/>
                </a:solidFill>
                <a:latin typeface="Aptos"/>
              </a:rPr>
              <a:t>−₹9,232  to  ₹19,080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4754880"/>
            <a:ext cx="10332720" cy="82296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r>
              <a:rPr sz="1700" b="1">
                <a:solidFill>
                  <a:srgbClr val="2D3748"/>
                </a:solidFill>
                <a:latin typeface="Aptos"/>
              </a:rPr>
              <a:t>Because p = 0.495 &gt; 0.05 and the confidence interval includes zero, the result is not statistically significant.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943600"/>
            <a:ext cx="10424160" cy="27432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Aptos"/>
              </a:rPr>
              <a:t>Calculated from cleaned_sales_dataset.csv; currency rounded to nearest rupee.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r>
              <a:rPr sz="2800" b="1">
                <a:solidFill>
                  <a:srgbClr val="18274B"/>
                </a:solidFill>
                <a:latin typeface="Aptos"/>
              </a:rPr>
              <a:t>6. Conclusion and call to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972800" cy="3200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Aptos"/>
              </a:rPr>
              <a:t>What should the business do next?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3657600" cy="36576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r>
              <a:rPr sz="1800" b="1">
                <a:solidFill>
                  <a:srgbClr val="1B9184"/>
                </a:solidFill>
                <a:latin typeface="Aptos"/>
              </a:rPr>
              <a:t>Statistical 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4754880" cy="132588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r>
              <a:rPr sz="2000" b="1">
                <a:solidFill>
                  <a:srgbClr val="18274B"/>
                </a:solidFill>
                <a:latin typeface="Aptos"/>
              </a:rPr>
              <a:t>We do not have sufficient evidence to conclude that average transaction sales differ by gender in this dataset.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80760" y="1417320"/>
            <a:ext cx="3657600" cy="36576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r>
              <a:rPr sz="1800" b="1">
                <a:solidFill>
                  <a:srgbClr val="1B9184"/>
                </a:solidFill>
                <a:latin typeface="Aptos"/>
              </a:rPr>
              <a:t>Recommended actions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60" y="1828800"/>
            <a:ext cx="51206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D3748"/>
                </a:solidFill>
                <a:latin typeface="Aptos"/>
              </a:defRPr>
            </a:pPr>
            <a:r>
              <a:t>•  Avoid gender-based targeting based on this test alone.</a:t>
            </a:r>
          </a:p>
          <a:p>
            <a:pPr>
              <a:spcAft>
                <a:spcPts val="1200"/>
              </a:spcAft>
              <a:defRPr sz="1600">
                <a:solidFill>
                  <a:srgbClr val="2D3748"/>
                </a:solidFill>
                <a:latin typeface="Aptos"/>
              </a:defRPr>
            </a:pPr>
            <a:r>
              <a:t>•  Use the dashboard to inspect category, city, and month performance.</a:t>
            </a:r>
          </a:p>
          <a:p>
            <a:pPr>
              <a:spcAft>
                <a:spcPts val="1200"/>
              </a:spcAft>
              <a:defRPr sz="1600">
                <a:solidFill>
                  <a:srgbClr val="2D3748"/>
                </a:solidFill>
                <a:latin typeface="Aptos"/>
              </a:defRPr>
            </a:pPr>
            <a:r>
              <a:t>•  Test future campaigns with a properly designed A/B experiment.</a:t>
            </a:r>
          </a:p>
          <a:p>
            <a:pPr>
              <a:spcAft>
                <a:spcPts val="1200"/>
              </a:spcAft>
              <a:defRPr sz="1600">
                <a:solidFill>
                  <a:srgbClr val="2D3748"/>
                </a:solidFill>
                <a:latin typeface="Aptos"/>
              </a:defRPr>
            </a:pPr>
            <a:r>
              <a:t>•  Validate further hypotheses before major decisions.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715000"/>
            <a:ext cx="10607040" cy="50292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r>
              <a:rPr sz="1600" b="1">
                <a:solidFill>
                  <a:srgbClr val="18274B"/>
                </a:solidFill>
                <a:latin typeface="Aptos"/>
              </a:rPr>
              <a:t>Key message: use descriptive analytics to spot patterns—and statistical testing to assess uncertainty.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